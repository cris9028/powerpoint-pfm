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37160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8229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Struttura Parti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11480" y="150876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Tipo Parte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11480" y="2148840"/>
            <a:ext cx="4572000" cy="457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8" name="Text 5"/>
          <p:cNvSpPr/>
          <p:nvPr/>
        </p:nvSpPr>
        <p:spPr>
          <a:xfrm>
            <a:off x="411480" y="22860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 diretto ai Tipi Parte 2 per la creazione distinte in Galileo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11480" y="3017520"/>
            <a:ext cx="3840480" cy="868680"/>
          </a:xfrm>
          <a:prstGeom prst="rect">
            <a:avLst/>
          </a:prstGeom>
          <a:solidFill>
            <a:srgbClr val="F7F7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301752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– 120 ore risparmiate / anno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11480" y="3456432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macchine × 1–2 ore per distinta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11480" y="4315968"/>
            <a:ext cx="2560320" cy="43891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10"/>
          <p:cNvSpPr/>
          <p:nvPr/>
        </p:nvSpPr>
        <p:spPr>
          <a:xfrm>
            <a:off x="411480" y="431596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di Innovazione Interna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BBBBB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Situazione Precedente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91440" cy="1645920"/>
          </a:xfrm>
          <a:prstGeom prst="rect">
            <a:avLst/>
          </a:prstGeom>
          <a:solidFill>
            <a:srgbClr val="33333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2070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Albero modello completo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97280" y="157276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L'operatore doveva scorrere l'intero albero del modello voce per voce, indipendentemente dal tipo parte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00584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005840"/>
            <a:ext cx="91440" cy="1645920"/>
          </a:xfrm>
          <a:prstGeom prst="rect">
            <a:avLst/>
          </a:prstGeom>
          <a:solidFill>
            <a:srgbClr val="33333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325880"/>
            <a:ext cx="475488" cy="4754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12070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ore per macchina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577840" y="157276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perso nella ricerca manuale dei soli Tipi Parte 2 (gruppi e assiemi) necessari per Galileo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74320" y="283464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74320" y="2834640"/>
            <a:ext cx="91440" cy="1645920"/>
          </a:xfrm>
          <a:prstGeom prst="rect">
            <a:avLst/>
          </a:prstGeom>
          <a:solidFill>
            <a:srgbClr val="33333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154680"/>
            <a:ext cx="475488" cy="4754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97280" y="30358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Errori di esportazione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097280" y="340156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Rischio concreto di saltare gruppi o assiemi, generando distinte vuote o incomplete in Galileo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54880" y="283464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2834640"/>
            <a:ext cx="91440" cy="1645920"/>
          </a:xfrm>
          <a:prstGeom prst="rect">
            <a:avLst/>
          </a:prstGeom>
          <a:solidFill>
            <a:srgbClr val="333333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154680"/>
            <a:ext cx="475488" cy="4754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77840" y="30358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filtro disponibile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577840" y="340156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Nessuno strumento per isolare rapidamente i soli elementi che richiedono la creazione di una distinta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ricerca manuale ripetuta su ogni macchina, con rischio di distinte errate o incomplete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BBBBB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Soluzione: Filtro per Tipo Parte 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114800" cy="73152"/>
          </a:xfrm>
          <a:prstGeom prst="rect">
            <a:avLst/>
          </a:prstGeom>
          <a:solidFill>
            <a:srgbClr val="33333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0"/>
            <a:ext cx="777240" cy="777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26187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Filtro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2920" y="2194560"/>
            <a:ext cx="73152" cy="7315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20574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la struttura parti per Tipo Parte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2834640"/>
            <a:ext cx="73152" cy="7315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2" name="Text 9"/>
          <p:cNvSpPr/>
          <p:nvPr/>
        </p:nvSpPr>
        <p:spPr>
          <a:xfrm>
            <a:off x="713232" y="26974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solo i Tipi Parte 2 (gruppi e assiemi)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02920" y="3474720"/>
            <a:ext cx="73152" cy="7315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4" name="Text 11"/>
          <p:cNvSpPr/>
          <p:nvPr/>
        </p:nvSpPr>
        <p:spPr>
          <a:xfrm>
            <a:off x="713232" y="33375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 immediato agli elementi da inviare a Galileo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2920" y="4114800"/>
            <a:ext cx="73152" cy="7315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6" name="Text 13"/>
          <p:cNvSpPr/>
          <p:nvPr/>
        </p:nvSpPr>
        <p:spPr>
          <a:xfrm>
            <a:off x="713232" y="39776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Implementato operativamente nell'ambiente di lavoro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754880" y="96012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54880" y="960120"/>
            <a:ext cx="4114800" cy="73152"/>
          </a:xfrm>
          <a:prstGeom prst="rect">
            <a:avLst/>
          </a:prstGeom>
          <a:solidFill>
            <a:srgbClr val="333333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188720"/>
            <a:ext cx="777240" cy="7772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989320" y="126187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Operativo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4983480" y="2194560"/>
            <a:ext cx="73152" cy="7315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2" name="Text 18"/>
          <p:cNvSpPr/>
          <p:nvPr/>
        </p:nvSpPr>
        <p:spPr>
          <a:xfrm>
            <a:off x="5193792" y="20574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passaggio manuale voce per voce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4983480" y="2834640"/>
            <a:ext cx="73152" cy="7315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4" name="Text 20"/>
          <p:cNvSpPr/>
          <p:nvPr/>
        </p:nvSpPr>
        <p:spPr>
          <a:xfrm>
            <a:off x="5193792" y="26974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Selezione precisa e completa dei soli elementi necessari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4983480" y="3474720"/>
            <a:ext cx="73152" cy="7315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6" name="Text 22"/>
          <p:cNvSpPr/>
          <p:nvPr/>
        </p:nvSpPr>
        <p:spPr>
          <a:xfrm>
            <a:off x="5193792" y="33375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Eliminazione del rischio di distinte vuote o incomplete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4983480" y="4114800"/>
            <a:ext cx="73152" cy="7315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8" name="Text 24"/>
          <p:cNvSpPr/>
          <p:nvPr/>
        </p:nvSpPr>
        <p:spPr>
          <a:xfrm>
            <a:off x="5193792" y="39776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ripetibile in modo uniforme su ogni macchina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BBBBB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vs. Dopo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3840480" cy="4754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8755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572768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572768"/>
            <a:ext cx="91440" cy="4754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7276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Scorrimento manuale dell'intero albero modello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13969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139696"/>
            <a:ext cx="91440" cy="4754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139696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Ricerca voce per voce dei Tipi Parte 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706624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706624"/>
            <a:ext cx="91440" cy="4754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706624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ore per ogni macchina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27355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273552"/>
            <a:ext cx="91440" cy="4754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27355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Rischio di saltare gruppi o assiemi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84048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840480"/>
            <a:ext cx="91440" cy="4754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84048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Distinte incomplete o vuote in Galileo</a:t>
            </a:r>
            <a:endParaRPr lang="en-US" sz="11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78808" y="2377440"/>
            <a:ext cx="777240" cy="77724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5029200" y="987552"/>
            <a:ext cx="3840480" cy="4754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0" y="98755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DOPO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029200" y="1572768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029200" y="1572768"/>
            <a:ext cx="91440" cy="475488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7" name="Text 24"/>
          <p:cNvSpPr/>
          <p:nvPr/>
        </p:nvSpPr>
        <p:spPr>
          <a:xfrm>
            <a:off x="5257800" y="157276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applicato: visibili solo i Tipi Parte 2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029200" y="213969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029200" y="2139696"/>
            <a:ext cx="91440" cy="475488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30" name="Text 27"/>
          <p:cNvSpPr/>
          <p:nvPr/>
        </p:nvSpPr>
        <p:spPr>
          <a:xfrm>
            <a:off x="5257800" y="2139696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Selezione immediata, nessuna ricerca manuale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029200" y="2706624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029200" y="2706624"/>
            <a:ext cx="91440" cy="475488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33" name="Text 30"/>
          <p:cNvSpPr/>
          <p:nvPr/>
        </p:nvSpPr>
        <p:spPr>
          <a:xfrm>
            <a:off x="5257800" y="2706624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Risparmio di 1–2 ore per macchina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029200" y="327355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5029200" y="3273552"/>
            <a:ext cx="91440" cy="475488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36" name="Text 33"/>
          <p:cNvSpPr/>
          <p:nvPr/>
        </p:nvSpPr>
        <p:spPr>
          <a:xfrm>
            <a:off x="5257800" y="327355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elemento saltato per errore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5029200" y="384048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5029200" y="3840480"/>
            <a:ext cx="91440" cy="475488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39" name="Text 36"/>
          <p:cNvSpPr/>
          <p:nvPr/>
        </p:nvSpPr>
        <p:spPr>
          <a:xfrm>
            <a:off x="5257800" y="384048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Distinte complete e corrette al primo invio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BBBBB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Impatto e Risparmio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8595360" cy="7315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7899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60–120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468880" y="11430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ore risparmiate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anno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26280" y="1097280"/>
            <a:ext cx="45720" cy="914400"/>
          </a:xfrm>
          <a:prstGeom prst="rect">
            <a:avLst/>
          </a:prstGeom>
          <a:solidFill>
            <a:srgbClr val="BBBBBB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macchine/anno  ×  1–2 ore per distinta  =  60–120 ore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16642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Oltre alla riduzione di errori con distinte vuote o incomplete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377440"/>
            <a:ext cx="2011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377440"/>
            <a:ext cx="2011680" cy="64008"/>
          </a:xfrm>
          <a:prstGeom prst="rect">
            <a:avLst/>
          </a:prstGeom>
          <a:solidFill>
            <a:srgbClr val="333333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606040"/>
            <a:ext cx="457200" cy="457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05840" y="251460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36576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Velocità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65760" y="36118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1–2 ore a pochi minuti per la selezione degli elementi da inviare a Galileo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468880" y="2377440"/>
            <a:ext cx="2011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468880" y="2377440"/>
            <a:ext cx="2011680" cy="64008"/>
          </a:xfrm>
          <a:prstGeom prst="rect">
            <a:avLst/>
          </a:prstGeom>
          <a:solidFill>
            <a:srgbClr val="333333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2606040"/>
            <a:ext cx="457200" cy="4572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200400" y="251460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22" name="Text 18"/>
          <p:cNvSpPr/>
          <p:nvPr/>
        </p:nvSpPr>
        <p:spPr>
          <a:xfrm>
            <a:off x="256032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Precisione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2560320" y="36118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Errori di selezione: tutti i Tipi Parte 2 vengono catturati automaticamente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663440" y="2377440"/>
            <a:ext cx="2011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663440" y="2377440"/>
            <a:ext cx="2011680" cy="64008"/>
          </a:xfrm>
          <a:prstGeom prst="rect">
            <a:avLst/>
          </a:prstGeom>
          <a:solidFill>
            <a:srgbClr val="333333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606040"/>
            <a:ext cx="457200" cy="4572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394960" y="251460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2800" dirty="0"/>
          </a:p>
        </p:txBody>
      </p:sp>
      <p:sp>
        <p:nvSpPr>
          <p:cNvPr id="28" name="Text 23"/>
          <p:cNvSpPr/>
          <p:nvPr/>
        </p:nvSpPr>
        <p:spPr>
          <a:xfrm>
            <a:off x="475488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Qualità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4754880" y="36118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Distinte complete e corrette al primo invio, senza rilavorazioni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6858000" y="2377440"/>
            <a:ext cx="2011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6858000" y="2377440"/>
            <a:ext cx="2011680" cy="64008"/>
          </a:xfrm>
          <a:prstGeom prst="rect">
            <a:avLst/>
          </a:prstGeom>
          <a:solidFill>
            <a:srgbClr val="333333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2606040"/>
            <a:ext cx="457200" cy="45720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589520" y="251460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800" dirty="0"/>
          </a:p>
        </p:txBody>
      </p:sp>
      <p:sp>
        <p:nvSpPr>
          <p:cNvPr id="34" name="Text 28"/>
          <p:cNvSpPr/>
          <p:nvPr/>
        </p:nvSpPr>
        <p:spPr>
          <a:xfrm>
            <a:off x="694944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Uniformità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6949440" y="36118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identico per ogni operatore, su ogni macchina, senza dipendenza dall'esperienza personale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6012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96012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proposta, coordinata e già operativa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65760" y="17830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filtro per Tipo Parte 2 nasce da un'idea interna ed è già integrato nel flusso di lavoro quotidiano per la creazione delle distinte in Galileo.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2487168"/>
            <a:ext cx="8412480" cy="36576"/>
          </a:xfrm>
          <a:prstGeom prst="rect">
            <a:avLst/>
          </a:prstGeom>
          <a:solidFill>
            <a:srgbClr val="BBBBBB"/>
          </a:solidFill>
          <a:ln/>
        </p:spPr>
      </p:sp>
      <p:sp>
        <p:nvSpPr>
          <p:cNvPr id="8" name="Shape 5"/>
          <p:cNvSpPr/>
          <p:nvPr/>
        </p:nvSpPr>
        <p:spPr>
          <a:xfrm>
            <a:off x="365760" y="2724912"/>
            <a:ext cx="73152" cy="34747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26517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Già in uso nel processo produttivo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" y="298094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Integrato operativamente, nessun onboarding necessario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" y="3319272"/>
            <a:ext cx="73152" cy="34747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324612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Riduzione significativa degli errori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94360" y="357530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Distinte vuote o incomplete eliminate alla radice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3913632"/>
            <a:ext cx="73152" cy="34747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" y="38404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Risparmio misurabile e ricorrente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94360" y="416966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60–120 ore/anno risparmiate sul flusso di creazione distinte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65760" y="4553712"/>
            <a:ext cx="8412480" cy="457200"/>
          </a:xfrm>
          <a:prstGeom prst="rect">
            <a:avLst/>
          </a:prstGeom>
          <a:solidFill>
            <a:srgbClr val="F7F7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455371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60–120 ore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2148840" y="4553712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Risparmio annuo stimato sul flusso distinte — ricorrente su ogni ciclo produttivo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Innovazione: Filtro Struttura Parti per Tipo Parte</dc:title>
  <dc:subject>PptxGenJS Presentation</dc:subject>
  <dc:creator>PptxGenJS</dc:creator>
  <cp:lastModifiedBy>PptxGenJS</cp:lastModifiedBy>
  <cp:revision>1</cp:revision>
  <dcterms:created xsi:type="dcterms:W3CDTF">2026-05-24T06:12:59Z</dcterms:created>
  <dcterms:modified xsi:type="dcterms:W3CDTF">2026-05-24T06:12:59Z</dcterms:modified>
</cp:coreProperties>
</file>