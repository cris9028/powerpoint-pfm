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3" name="Shape 1"/>
          <p:cNvSpPr/>
          <p:nvPr/>
        </p:nvSpPr>
        <p:spPr>
          <a:xfrm>
            <a:off x="7132320" y="0"/>
            <a:ext cx="2011680" cy="5143500"/>
          </a:xfrm>
          <a:prstGeom prst="rect">
            <a:avLst/>
          </a:prstGeom>
          <a:solidFill>
            <a:srgbClr val="F7F7F7"/>
          </a:solidFill>
          <a:ln w="12700">
            <a:solidFill>
              <a:srgbClr val="CCCCCC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0" y="1371600"/>
            <a:ext cx="1188720" cy="11887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11480" y="822960"/>
            <a:ext cx="6400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Motore di Ricerca</a:t>
            </a:r>
            <a:endParaRPr lang="en-US" sz="3000" dirty="0"/>
          </a:p>
        </p:txBody>
      </p:sp>
      <p:sp>
        <p:nvSpPr>
          <p:cNvPr id="6" name="Text 3"/>
          <p:cNvSpPr/>
          <p:nvPr/>
        </p:nvSpPr>
        <p:spPr>
          <a:xfrm>
            <a:off x="411480" y="1508760"/>
            <a:ext cx="6400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Documentazione Tecnica</a:t>
            </a:r>
            <a:endParaRPr lang="en-US" sz="3000" dirty="0"/>
          </a:p>
        </p:txBody>
      </p:sp>
      <p:sp>
        <p:nvSpPr>
          <p:cNvPr id="7" name="Shape 4"/>
          <p:cNvSpPr/>
          <p:nvPr/>
        </p:nvSpPr>
        <p:spPr>
          <a:xfrm>
            <a:off x="411480" y="2148840"/>
            <a:ext cx="5029200" cy="45720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8" name="Text 5"/>
          <p:cNvSpPr/>
          <p:nvPr/>
        </p:nvSpPr>
        <p:spPr>
          <a:xfrm>
            <a:off x="411480" y="2286000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Ricerca booleana su 2.300 dati integrativi macchine — in corso di sviluppo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11480" y="2880360"/>
            <a:ext cx="6217920" cy="868680"/>
          </a:xfrm>
          <a:prstGeom prst="rect">
            <a:avLst/>
          </a:prstGeom>
          <a:solidFill>
            <a:srgbClr val="F7F7F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94360" y="2926080"/>
            <a:ext cx="5852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Esempio di ricerca: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594360" y="3218688"/>
            <a:ext cx="5852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(TUNN* FISS*)  AND  (CAD* PALETT* 75)</a:t>
            </a:r>
            <a:endParaRPr lang="en-US" sz="1500" dirty="0"/>
          </a:p>
        </p:txBody>
      </p:sp>
      <p:sp>
        <p:nvSpPr>
          <p:cNvPr id="12" name="Shape 9"/>
          <p:cNvSpPr/>
          <p:nvPr/>
        </p:nvSpPr>
        <p:spPr>
          <a:xfrm>
            <a:off x="411480" y="4315968"/>
            <a:ext cx="2560320" cy="438912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13" name="Text 10"/>
          <p:cNvSpPr/>
          <p:nvPr/>
        </p:nvSpPr>
        <p:spPr>
          <a:xfrm>
            <a:off x="411480" y="4315968"/>
            <a:ext cx="2560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Proposta di Innovazione Interna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3246120" y="4315968"/>
            <a:ext cx="1463040" cy="438912"/>
          </a:xfrm>
          <a:prstGeom prst="rect">
            <a:avLst/>
          </a:prstGeom>
          <a:solidFill>
            <a:srgbClr val="F7F7F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246120" y="4315968"/>
            <a:ext cx="1463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sviluppo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77240"/>
            <a:ext cx="9144000" cy="54864"/>
          </a:xfrm>
          <a:prstGeom prst="rect">
            <a:avLst/>
          </a:prstGeom>
          <a:solidFill>
            <a:srgbClr val="BBBBBB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Situazione Precedente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74320" y="1005840"/>
            <a:ext cx="411480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005840"/>
            <a:ext cx="91440" cy="1645920"/>
          </a:xfrm>
          <a:prstGeom prst="rect">
            <a:avLst/>
          </a:prstGeom>
          <a:solidFill>
            <a:srgbClr val="333333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325880"/>
            <a:ext cx="475488" cy="47548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97280" y="1207008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2.300 documenti Word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1097280" y="1572768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dati integrativi di ogni macchina prodotta sono archiviati in file Word separati, non interrogabili in modo aggregato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754880" y="1005840"/>
            <a:ext cx="411480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754880" y="1005840"/>
            <a:ext cx="91440" cy="1645920"/>
          </a:xfrm>
          <a:prstGeom prst="rect">
            <a:avLst/>
          </a:prstGeom>
          <a:solidFill>
            <a:srgbClr val="333333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3480" y="1325880"/>
            <a:ext cx="475488" cy="47548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577840" y="1207008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Ricerca manuale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5577840" y="1572768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Trovare macchine con specifiche tecniche simili richiedeva aprire i file uno per uno, affidandosi alla memoria o alla fortuna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274320" y="2834640"/>
            <a:ext cx="411480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274320" y="2834640"/>
            <a:ext cx="91440" cy="1645920"/>
          </a:xfrm>
          <a:prstGeom prst="rect">
            <a:avLst/>
          </a:prstGeom>
          <a:solidFill>
            <a:srgbClr val="333333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3154680"/>
            <a:ext cx="475488" cy="475488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097280" y="3035808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Conoscenza non accessibile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1097280" y="3401568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storico tecnico di anni di produzione era di fatto inaccessibile in modo rapido e sistematico</a:t>
            </a:r>
            <a:endParaRPr lang="en-US" sz="1100" dirty="0"/>
          </a:p>
        </p:txBody>
      </p:sp>
      <p:sp>
        <p:nvSpPr>
          <p:cNvPr id="20" name="Shape 15"/>
          <p:cNvSpPr/>
          <p:nvPr/>
        </p:nvSpPr>
        <p:spPr>
          <a:xfrm>
            <a:off x="4754880" y="2834640"/>
            <a:ext cx="411480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4754880" y="2834640"/>
            <a:ext cx="91440" cy="1645920"/>
          </a:xfrm>
          <a:prstGeom prst="rect">
            <a:avLst/>
          </a:prstGeom>
          <a:solidFill>
            <a:srgbClr val="333333"/>
          </a:solidFill>
          <a:ln/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83480" y="3154680"/>
            <a:ext cx="475488" cy="475488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5577840" y="3035808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Opportunità perse</a:t>
            </a:r>
            <a:endParaRPr lang="en-US" sz="1300" dirty="0"/>
          </a:p>
        </p:txBody>
      </p:sp>
      <p:sp>
        <p:nvSpPr>
          <p:cNvPr id="24" name="Text 18"/>
          <p:cNvSpPr/>
          <p:nvPr/>
        </p:nvSpPr>
        <p:spPr>
          <a:xfrm>
            <a:off x="5577840" y="3401568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fase di offerta o progettazione, non era possibile sfruttare rapidamente soluzioni già adottate su macchine precedenti</a:t>
            </a:r>
            <a:endParaRPr lang="en-US" sz="1100" dirty="0"/>
          </a:p>
        </p:txBody>
      </p:sp>
      <p:sp>
        <p:nvSpPr>
          <p:cNvPr id="25" name="Text 19"/>
          <p:cNvSpPr/>
          <p:nvPr/>
        </p:nvSpPr>
        <p:spPr>
          <a:xfrm>
            <a:off x="274320" y="4617720"/>
            <a:ext cx="8595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2.300 macchine di esperienza tecnica — praticamente inaccessibile senza uno strumento dedicato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77240"/>
            <a:ext cx="9144000" cy="54864"/>
          </a:xfrm>
          <a:prstGeom prst="rect">
            <a:avLst/>
          </a:prstGeom>
          <a:solidFill>
            <a:srgbClr val="BBBBBB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Soluzione: Ricerca Booleana su Archivio Tecnico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74320" y="960120"/>
            <a:ext cx="411480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960120"/>
            <a:ext cx="4114800" cy="73152"/>
          </a:xfrm>
          <a:prstGeom prst="rect">
            <a:avLst/>
          </a:prstGeom>
          <a:solidFill>
            <a:srgbClr val="333333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188720"/>
            <a:ext cx="777240" cy="77724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508760" y="1261872"/>
            <a:ext cx="2651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Come Funziona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502920" y="2194560"/>
            <a:ext cx="73152" cy="73152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10" name="Text 7"/>
          <p:cNvSpPr/>
          <p:nvPr/>
        </p:nvSpPr>
        <p:spPr>
          <a:xfrm>
            <a:off x="713232" y="2057400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Scansione automatica di tutti i 2.300 Word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502920" y="2834640"/>
            <a:ext cx="73152" cy="73152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12" name="Text 9"/>
          <p:cNvSpPr/>
          <p:nvPr/>
        </p:nvSpPr>
        <p:spPr>
          <a:xfrm>
            <a:off x="713232" y="2697480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Ricerca per stringhe con wildcards (TUNN*, CAD*...)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502920" y="3474720"/>
            <a:ext cx="73152" cy="73152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14" name="Text 11"/>
          <p:cNvSpPr/>
          <p:nvPr/>
        </p:nvSpPr>
        <p:spPr>
          <a:xfrm>
            <a:off x="713232" y="3337560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Operatori booleani: AND, OR per query composite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502920" y="4114800"/>
            <a:ext cx="73152" cy="73152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16" name="Text 13"/>
          <p:cNvSpPr/>
          <p:nvPr/>
        </p:nvSpPr>
        <p:spPr>
          <a:xfrm>
            <a:off x="713232" y="3977640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Risultato restituito in un file txt con tutte le ricorrenze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4754880" y="960120"/>
            <a:ext cx="411480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4754880" y="960120"/>
            <a:ext cx="4114800" cy="73152"/>
          </a:xfrm>
          <a:prstGeom prst="rect">
            <a:avLst/>
          </a:prstGeom>
          <a:solidFill>
            <a:srgbClr val="333333"/>
          </a:solidFill>
          <a:ln/>
        </p:spPr>
      </p:sp>
      <p:pic>
        <p:nvPicPr>
          <p:cNvPr id="1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74920" y="1188720"/>
            <a:ext cx="777240" cy="777240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5989320" y="1261872"/>
            <a:ext cx="2651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Esempio Pratico</a:t>
            </a:r>
            <a:endParaRPr lang="en-US" sz="1600" dirty="0"/>
          </a:p>
        </p:txBody>
      </p:sp>
      <p:sp>
        <p:nvSpPr>
          <p:cNvPr id="21" name="Shape 17"/>
          <p:cNvSpPr/>
          <p:nvPr/>
        </p:nvSpPr>
        <p:spPr>
          <a:xfrm>
            <a:off x="4937760" y="2011680"/>
            <a:ext cx="3749040" cy="685800"/>
          </a:xfrm>
          <a:prstGeom prst="rect">
            <a:avLst/>
          </a:prstGeom>
          <a:solidFill>
            <a:srgbClr val="F7F7F7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5029200" y="2029968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(TUNN* FISS*)  AND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(CAD* PALETT* 75)</a:t>
            </a:r>
            <a:endParaRPr lang="en-US" sz="1200" dirty="0"/>
          </a:p>
        </p:txBody>
      </p:sp>
      <p:sp>
        <p:nvSpPr>
          <p:cNvPr id="23" name="Text 19"/>
          <p:cNvSpPr/>
          <p:nvPr/>
        </p:nvSpPr>
        <p:spPr>
          <a:xfrm>
            <a:off x="4937760" y="2834640"/>
            <a:ext cx="3749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Restituisce tutte le macchine con tunnel fisso e caduta paletta 75, in pochi secondi</a:t>
            </a:r>
            <a:endParaRPr lang="en-US" sz="1100" dirty="0"/>
          </a:p>
        </p:txBody>
      </p:sp>
      <p:sp>
        <p:nvSpPr>
          <p:cNvPr id="24" name="Text 20"/>
          <p:cNvSpPr/>
          <p:nvPr/>
        </p:nvSpPr>
        <p:spPr>
          <a:xfrm>
            <a:off x="4937760" y="3520440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Applicabile a qualsiasi specifica tecnica presente nei dati integrativi</a:t>
            </a:r>
            <a:endParaRPr lang="en-US" sz="1100" dirty="0"/>
          </a:p>
        </p:txBody>
      </p:sp>
      <p:sp>
        <p:nvSpPr>
          <p:cNvPr id="25" name="Text 21"/>
          <p:cNvSpPr/>
          <p:nvPr/>
        </p:nvSpPr>
        <p:spPr>
          <a:xfrm>
            <a:off x="4937760" y="4069080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Utile in fase di offerta, progettazione e assistenza tecnica post-vendita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77240"/>
            <a:ext cx="9144000" cy="54864"/>
          </a:xfrm>
          <a:prstGeom prst="rect">
            <a:avLst/>
          </a:prstGeom>
          <a:solidFill>
            <a:srgbClr val="BBBBBB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 vs. Dopo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74320" y="987552"/>
            <a:ext cx="3840480" cy="475488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987552"/>
            <a:ext cx="3840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74320" y="1572768"/>
            <a:ext cx="38404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1572768"/>
            <a:ext cx="91440" cy="475488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9" name="Text 7"/>
          <p:cNvSpPr/>
          <p:nvPr/>
        </p:nvSpPr>
        <p:spPr>
          <a:xfrm>
            <a:off x="502920" y="1572768"/>
            <a:ext cx="3474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Apertura manuale dei Word uno per uno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74320" y="2139696"/>
            <a:ext cx="38404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74320" y="2139696"/>
            <a:ext cx="91440" cy="475488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12" name="Text 10"/>
          <p:cNvSpPr/>
          <p:nvPr/>
        </p:nvSpPr>
        <p:spPr>
          <a:xfrm>
            <a:off x="502920" y="2139696"/>
            <a:ext cx="3474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Ricerca affidata alla memoria individuale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74320" y="2706624"/>
            <a:ext cx="38404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74320" y="2706624"/>
            <a:ext cx="91440" cy="475488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15" name="Text 13"/>
          <p:cNvSpPr/>
          <p:nvPr/>
        </p:nvSpPr>
        <p:spPr>
          <a:xfrm>
            <a:off x="502920" y="2706624"/>
            <a:ext cx="3474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Nessuna garanzia di trovare tutti i casi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74320" y="3273552"/>
            <a:ext cx="38404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74320" y="3273552"/>
            <a:ext cx="91440" cy="475488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18" name="Text 16"/>
          <p:cNvSpPr/>
          <p:nvPr/>
        </p:nvSpPr>
        <p:spPr>
          <a:xfrm>
            <a:off x="502920" y="3273552"/>
            <a:ext cx="3474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 indefinito per una risposta incerta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274320" y="3840480"/>
            <a:ext cx="38404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274320" y="3840480"/>
            <a:ext cx="91440" cy="475488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21" name="Text 19"/>
          <p:cNvSpPr/>
          <p:nvPr/>
        </p:nvSpPr>
        <p:spPr>
          <a:xfrm>
            <a:off x="502920" y="3840480"/>
            <a:ext cx="3474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Storico tecnico di fatto inutilizzabile</a:t>
            </a:r>
            <a:endParaRPr lang="en-US" sz="1100" dirty="0"/>
          </a:p>
        </p:txBody>
      </p:sp>
      <p:pic>
        <p:nvPicPr>
          <p:cNvPr id="2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78808" y="2377440"/>
            <a:ext cx="777240" cy="777240"/>
          </a:xfrm>
          <a:prstGeom prst="rect">
            <a:avLst/>
          </a:prstGeom>
        </p:spPr>
      </p:pic>
      <p:sp>
        <p:nvSpPr>
          <p:cNvPr id="23" name="Shape 20"/>
          <p:cNvSpPr/>
          <p:nvPr/>
        </p:nvSpPr>
        <p:spPr>
          <a:xfrm>
            <a:off x="5029200" y="987552"/>
            <a:ext cx="3840480" cy="475488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24" name="Text 21"/>
          <p:cNvSpPr/>
          <p:nvPr/>
        </p:nvSpPr>
        <p:spPr>
          <a:xfrm>
            <a:off x="5029200" y="987552"/>
            <a:ext cx="3840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DOPO</a:t>
            </a:r>
            <a:endParaRPr lang="en-US" sz="1400" dirty="0"/>
          </a:p>
        </p:txBody>
      </p:sp>
      <p:sp>
        <p:nvSpPr>
          <p:cNvPr id="25" name="Shape 22"/>
          <p:cNvSpPr/>
          <p:nvPr/>
        </p:nvSpPr>
        <p:spPr>
          <a:xfrm>
            <a:off x="5029200" y="1572768"/>
            <a:ext cx="38404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26" name="Shape 23"/>
          <p:cNvSpPr/>
          <p:nvPr/>
        </p:nvSpPr>
        <p:spPr>
          <a:xfrm>
            <a:off x="5029200" y="1572768"/>
            <a:ext cx="91440" cy="475488"/>
          </a:xfrm>
          <a:prstGeom prst="rect">
            <a:avLst/>
          </a:prstGeom>
          <a:solidFill>
            <a:srgbClr val="666666"/>
          </a:solidFill>
          <a:ln/>
        </p:spPr>
      </p:sp>
      <p:sp>
        <p:nvSpPr>
          <p:cNvPr id="27" name="Text 24"/>
          <p:cNvSpPr/>
          <p:nvPr/>
        </p:nvSpPr>
        <p:spPr>
          <a:xfrm>
            <a:off x="5257800" y="1572768"/>
            <a:ext cx="3474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booleana su tutti i 2.300 documenti</a:t>
            </a:r>
            <a:endParaRPr lang="en-US" sz="1100" dirty="0"/>
          </a:p>
        </p:txBody>
      </p:sp>
      <p:sp>
        <p:nvSpPr>
          <p:cNvPr id="28" name="Shape 25"/>
          <p:cNvSpPr/>
          <p:nvPr/>
        </p:nvSpPr>
        <p:spPr>
          <a:xfrm>
            <a:off x="5029200" y="2139696"/>
            <a:ext cx="38404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29" name="Shape 26"/>
          <p:cNvSpPr/>
          <p:nvPr/>
        </p:nvSpPr>
        <p:spPr>
          <a:xfrm>
            <a:off x="5029200" y="2139696"/>
            <a:ext cx="91440" cy="475488"/>
          </a:xfrm>
          <a:prstGeom prst="rect">
            <a:avLst/>
          </a:prstGeom>
          <a:solidFill>
            <a:srgbClr val="666666"/>
          </a:solidFill>
          <a:ln/>
        </p:spPr>
      </p:sp>
      <p:sp>
        <p:nvSpPr>
          <p:cNvPr id="30" name="Text 27"/>
          <p:cNvSpPr/>
          <p:nvPr/>
        </p:nvSpPr>
        <p:spPr>
          <a:xfrm>
            <a:off x="5257800" y="2139696"/>
            <a:ext cx="3474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Risultato completo ed esaustivo in secondi</a:t>
            </a:r>
            <a:endParaRPr lang="en-US" sz="1100" dirty="0"/>
          </a:p>
        </p:txBody>
      </p:sp>
      <p:sp>
        <p:nvSpPr>
          <p:cNvPr id="31" name="Shape 28"/>
          <p:cNvSpPr/>
          <p:nvPr/>
        </p:nvSpPr>
        <p:spPr>
          <a:xfrm>
            <a:off x="5029200" y="2706624"/>
            <a:ext cx="38404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32" name="Shape 29"/>
          <p:cNvSpPr/>
          <p:nvPr/>
        </p:nvSpPr>
        <p:spPr>
          <a:xfrm>
            <a:off x="5029200" y="2706624"/>
            <a:ext cx="91440" cy="475488"/>
          </a:xfrm>
          <a:prstGeom prst="rect">
            <a:avLst/>
          </a:prstGeom>
          <a:solidFill>
            <a:srgbClr val="666666"/>
          </a:solidFill>
          <a:ln/>
        </p:spPr>
      </p:sp>
      <p:sp>
        <p:nvSpPr>
          <p:cNvPr id="33" name="Text 30"/>
          <p:cNvSpPr/>
          <p:nvPr/>
        </p:nvSpPr>
        <p:spPr>
          <a:xfrm>
            <a:off x="5257800" y="2706624"/>
            <a:ext cx="3474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Nessun caso sfugge alla ricerca</a:t>
            </a:r>
            <a:endParaRPr lang="en-US" sz="1100" dirty="0"/>
          </a:p>
        </p:txBody>
      </p:sp>
      <p:sp>
        <p:nvSpPr>
          <p:cNvPr id="34" name="Shape 31"/>
          <p:cNvSpPr/>
          <p:nvPr/>
        </p:nvSpPr>
        <p:spPr>
          <a:xfrm>
            <a:off x="5029200" y="3273552"/>
            <a:ext cx="38404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35" name="Shape 32"/>
          <p:cNvSpPr/>
          <p:nvPr/>
        </p:nvSpPr>
        <p:spPr>
          <a:xfrm>
            <a:off x="5029200" y="3273552"/>
            <a:ext cx="91440" cy="475488"/>
          </a:xfrm>
          <a:prstGeom prst="rect">
            <a:avLst/>
          </a:prstGeom>
          <a:solidFill>
            <a:srgbClr val="666666"/>
          </a:solidFill>
          <a:ln/>
        </p:spPr>
      </p:sp>
      <p:sp>
        <p:nvSpPr>
          <p:cNvPr id="36" name="Text 33"/>
          <p:cNvSpPr/>
          <p:nvPr/>
        </p:nvSpPr>
        <p:spPr>
          <a:xfrm>
            <a:off x="5257800" y="3273552"/>
            <a:ext cx="3474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Risposta immediata con elenco macchine</a:t>
            </a:r>
            <a:endParaRPr lang="en-US" sz="1100" dirty="0"/>
          </a:p>
        </p:txBody>
      </p:sp>
      <p:sp>
        <p:nvSpPr>
          <p:cNvPr id="37" name="Shape 34"/>
          <p:cNvSpPr/>
          <p:nvPr/>
        </p:nvSpPr>
        <p:spPr>
          <a:xfrm>
            <a:off x="5029200" y="3840480"/>
            <a:ext cx="38404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38" name="Shape 35"/>
          <p:cNvSpPr/>
          <p:nvPr/>
        </p:nvSpPr>
        <p:spPr>
          <a:xfrm>
            <a:off x="5029200" y="3840480"/>
            <a:ext cx="91440" cy="475488"/>
          </a:xfrm>
          <a:prstGeom prst="rect">
            <a:avLst/>
          </a:prstGeom>
          <a:solidFill>
            <a:srgbClr val="666666"/>
          </a:solidFill>
          <a:ln/>
        </p:spPr>
      </p:sp>
      <p:sp>
        <p:nvSpPr>
          <p:cNvPr id="39" name="Text 36"/>
          <p:cNvSpPr/>
          <p:nvPr/>
        </p:nvSpPr>
        <p:spPr>
          <a:xfrm>
            <a:off x="5257800" y="3840480"/>
            <a:ext cx="3474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Storico aziendale finalmente interrogabile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77240"/>
            <a:ext cx="9144000" cy="54864"/>
          </a:xfrm>
          <a:prstGeom prst="rect">
            <a:avLst/>
          </a:prstGeom>
          <a:solidFill>
            <a:srgbClr val="BBBBBB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Impatto e Valore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74320" y="960120"/>
            <a:ext cx="859536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960120"/>
            <a:ext cx="8595360" cy="73152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078992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2.300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2286000" y="1143000"/>
            <a:ext cx="2011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documenti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interrogabili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4343400" y="1097280"/>
            <a:ext cx="45720" cy="914400"/>
          </a:xfrm>
          <a:prstGeom prst="rect">
            <a:avLst/>
          </a:prstGeom>
          <a:solidFill>
            <a:srgbClr val="BBBBBB"/>
          </a:solidFill>
          <a:ln/>
        </p:spPr>
      </p:sp>
      <p:sp>
        <p:nvSpPr>
          <p:cNvPr id="10" name="Text 8"/>
          <p:cNvSpPr/>
          <p:nvPr/>
        </p:nvSpPr>
        <p:spPr>
          <a:xfrm>
            <a:off x="4526280" y="1188720"/>
            <a:ext cx="4114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Anni di storico tecnico aziendale resi accessibili in pochi secondi tramite ricerca booleana con wildcards e operatori AND/OR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74320" y="2377440"/>
            <a:ext cx="2011680" cy="246888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74320" y="2377440"/>
            <a:ext cx="2011680" cy="64008"/>
          </a:xfrm>
          <a:prstGeom prst="rect">
            <a:avLst/>
          </a:prstGeom>
          <a:solidFill>
            <a:srgbClr val="333333"/>
          </a:solidFill>
          <a:ln/>
        </p:spPr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2606040"/>
            <a:ext cx="457200" cy="457200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1005840" y="2514600"/>
            <a:ext cx="914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</a:t>
            </a:r>
            <a:endParaRPr lang="en-US" sz="2400" dirty="0"/>
          </a:p>
        </p:txBody>
      </p:sp>
      <p:sp>
        <p:nvSpPr>
          <p:cNvPr id="15" name="Text 12"/>
          <p:cNvSpPr/>
          <p:nvPr/>
        </p:nvSpPr>
        <p:spPr>
          <a:xfrm>
            <a:off x="365760" y="32004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Velocità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365760" y="3611880"/>
            <a:ext cx="1828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 ore di ricerca manuale a una risposta in pochi secondi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2468880" y="2377440"/>
            <a:ext cx="2011680" cy="246888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2468880" y="2377440"/>
            <a:ext cx="2011680" cy="64008"/>
          </a:xfrm>
          <a:prstGeom prst="rect">
            <a:avLst/>
          </a:prstGeom>
          <a:solidFill>
            <a:srgbClr val="333333"/>
          </a:solidFill>
          <a:ln/>
        </p:spPr>
      </p:sp>
      <p:pic>
        <p:nvPicPr>
          <p:cNvPr id="1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51760" y="2606040"/>
            <a:ext cx="457200" cy="457200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3200400" y="2514600"/>
            <a:ext cx="914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2400" dirty="0"/>
          </a:p>
        </p:txBody>
      </p:sp>
      <p:sp>
        <p:nvSpPr>
          <p:cNvPr id="21" name="Text 17"/>
          <p:cNvSpPr/>
          <p:nvPr/>
        </p:nvSpPr>
        <p:spPr>
          <a:xfrm>
            <a:off x="2560320" y="32004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Completezza</a:t>
            </a:r>
            <a:endParaRPr lang="en-US" sz="1300" dirty="0"/>
          </a:p>
        </p:txBody>
      </p:sp>
      <p:sp>
        <p:nvSpPr>
          <p:cNvPr id="22" name="Text 18"/>
          <p:cNvSpPr/>
          <p:nvPr/>
        </p:nvSpPr>
        <p:spPr>
          <a:xfrm>
            <a:off x="2560320" y="3611880"/>
            <a:ext cx="1828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Tutti i documenti vengono analizzati, nessun caso viene saltato</a:t>
            </a:r>
            <a:endParaRPr lang="en-US" sz="1000" dirty="0"/>
          </a:p>
        </p:txBody>
      </p:sp>
      <p:sp>
        <p:nvSpPr>
          <p:cNvPr id="23" name="Shape 19"/>
          <p:cNvSpPr/>
          <p:nvPr/>
        </p:nvSpPr>
        <p:spPr>
          <a:xfrm>
            <a:off x="4663440" y="2377440"/>
            <a:ext cx="2011680" cy="246888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24" name="Shape 20"/>
          <p:cNvSpPr/>
          <p:nvPr/>
        </p:nvSpPr>
        <p:spPr>
          <a:xfrm>
            <a:off x="4663440" y="2377440"/>
            <a:ext cx="2011680" cy="64008"/>
          </a:xfrm>
          <a:prstGeom prst="rect">
            <a:avLst/>
          </a:prstGeom>
          <a:solidFill>
            <a:srgbClr val="333333"/>
          </a:solidFill>
          <a:ln/>
        </p:spPr>
      </p:sp>
      <p:pic>
        <p:nvPicPr>
          <p:cNvPr id="2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6320" y="2606040"/>
            <a:ext cx="457200" cy="457200"/>
          </a:xfrm>
          <a:prstGeom prst="rect">
            <a:avLst/>
          </a:prstGeom>
        </p:spPr>
      </p:pic>
      <p:sp>
        <p:nvSpPr>
          <p:cNvPr id="26" name="Text 21"/>
          <p:cNvSpPr/>
          <p:nvPr/>
        </p:nvSpPr>
        <p:spPr>
          <a:xfrm>
            <a:off x="5394960" y="2514600"/>
            <a:ext cx="914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</a:t>
            </a:r>
            <a:endParaRPr lang="en-US" sz="2400" dirty="0"/>
          </a:p>
        </p:txBody>
      </p:sp>
      <p:sp>
        <p:nvSpPr>
          <p:cNvPr id="27" name="Text 22"/>
          <p:cNvSpPr/>
          <p:nvPr/>
        </p:nvSpPr>
        <p:spPr>
          <a:xfrm>
            <a:off x="4754880" y="32004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Storico</a:t>
            </a:r>
            <a:endParaRPr lang="en-US" sz="1300" dirty="0"/>
          </a:p>
        </p:txBody>
      </p:sp>
      <p:sp>
        <p:nvSpPr>
          <p:cNvPr id="28" name="Text 23"/>
          <p:cNvSpPr/>
          <p:nvPr/>
        </p:nvSpPr>
        <p:spPr>
          <a:xfrm>
            <a:off x="4754880" y="3611880"/>
            <a:ext cx="1828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patrimonio tecnico di 2.300 macchine diventa uno strumento attivo</a:t>
            </a:r>
            <a:endParaRPr lang="en-US" sz="1000" dirty="0"/>
          </a:p>
        </p:txBody>
      </p:sp>
      <p:sp>
        <p:nvSpPr>
          <p:cNvPr id="29" name="Shape 24"/>
          <p:cNvSpPr/>
          <p:nvPr/>
        </p:nvSpPr>
        <p:spPr>
          <a:xfrm>
            <a:off x="6858000" y="2377440"/>
            <a:ext cx="2011680" cy="246888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30" name="Shape 25"/>
          <p:cNvSpPr/>
          <p:nvPr/>
        </p:nvSpPr>
        <p:spPr>
          <a:xfrm>
            <a:off x="6858000" y="2377440"/>
            <a:ext cx="2011680" cy="64008"/>
          </a:xfrm>
          <a:prstGeom prst="rect">
            <a:avLst/>
          </a:prstGeom>
          <a:solidFill>
            <a:srgbClr val="333333"/>
          </a:solidFill>
          <a:ln/>
        </p:spPr>
      </p:sp>
      <p:pic>
        <p:nvPicPr>
          <p:cNvPr id="3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40880" y="2606040"/>
            <a:ext cx="457200" cy="457200"/>
          </a:xfrm>
          <a:prstGeom prst="rect">
            <a:avLst/>
          </a:prstGeom>
        </p:spPr>
      </p:pic>
      <p:sp>
        <p:nvSpPr>
          <p:cNvPr id="32" name="Text 26"/>
          <p:cNvSpPr/>
          <p:nvPr/>
        </p:nvSpPr>
        <p:spPr>
          <a:xfrm>
            <a:off x="7589520" y="2514600"/>
            <a:ext cx="914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en-US" sz="2400" dirty="0"/>
          </a:p>
        </p:txBody>
      </p:sp>
      <p:sp>
        <p:nvSpPr>
          <p:cNvPr id="33" name="Text 27"/>
          <p:cNvSpPr/>
          <p:nvPr/>
        </p:nvSpPr>
        <p:spPr>
          <a:xfrm>
            <a:off x="6949440" y="32004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Trasversale</a:t>
            </a:r>
            <a:endParaRPr lang="en-US" sz="1300" dirty="0"/>
          </a:p>
        </p:txBody>
      </p:sp>
      <p:sp>
        <p:nvSpPr>
          <p:cNvPr id="34" name="Text 28"/>
          <p:cNvSpPr/>
          <p:nvPr/>
        </p:nvSpPr>
        <p:spPr>
          <a:xfrm>
            <a:off x="6949440" y="3611880"/>
            <a:ext cx="1828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Utile per offerte, progettazione, assistenza e riutilizzo di soluzioni già testate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Conclusione</a:t>
            </a:r>
            <a:endParaRPr lang="en-US" sz="22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960120"/>
            <a:ext cx="685800" cy="6858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188720" y="960120"/>
            <a:ext cx="7589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motore di ricerca su misura per l'azienda</a:t>
            </a:r>
            <a:endParaRPr lang="en-US" sz="2000" dirty="0"/>
          </a:p>
        </p:txBody>
      </p:sp>
      <p:sp>
        <p:nvSpPr>
          <p:cNvPr id="6" name="Text 3"/>
          <p:cNvSpPr/>
          <p:nvPr/>
        </p:nvSpPr>
        <p:spPr>
          <a:xfrm>
            <a:off x="365760" y="178308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Strumenti equivalenti vengono venduti come software enterprise a migliaia di euro l'anno. Questo nasce internamente, su misura per i dati integrativi aziendali, senza costi di licenza.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365760" y="2514600"/>
            <a:ext cx="8412480" cy="36576"/>
          </a:xfrm>
          <a:prstGeom prst="rect">
            <a:avLst/>
          </a:prstGeom>
          <a:solidFill>
            <a:srgbClr val="BBBBBB"/>
          </a:solidFill>
          <a:ln/>
        </p:spPr>
      </p:sp>
      <p:sp>
        <p:nvSpPr>
          <p:cNvPr id="8" name="Shape 5"/>
          <p:cNvSpPr/>
          <p:nvPr/>
        </p:nvSpPr>
        <p:spPr>
          <a:xfrm>
            <a:off x="365760" y="2752344"/>
            <a:ext cx="73152" cy="347472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9" name="Text 6"/>
          <p:cNvSpPr/>
          <p:nvPr/>
        </p:nvSpPr>
        <p:spPr>
          <a:xfrm>
            <a:off x="594360" y="2679192"/>
            <a:ext cx="8046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Patrimonio tecnico aziendale valorizzato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594360" y="3008376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2.300 macchine di esperienza rese interrogabili in secondi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365760" y="3346704"/>
            <a:ext cx="73152" cy="347472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12" name="Text 9"/>
          <p:cNvSpPr/>
          <p:nvPr/>
        </p:nvSpPr>
        <p:spPr>
          <a:xfrm>
            <a:off x="594360" y="3273552"/>
            <a:ext cx="8046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Ricerca booleana avanzata con wildcards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594360" y="3602736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tipo (TUNN* FISS*) AND (CAD* PALETT* 75) — flessibile e potente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365760" y="3941064"/>
            <a:ext cx="73152" cy="347472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15" name="Text 12"/>
          <p:cNvSpPr/>
          <p:nvPr/>
        </p:nvSpPr>
        <p:spPr>
          <a:xfrm>
            <a:off x="594360" y="3867912"/>
            <a:ext cx="8046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Trasversale a tutta l'azienda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594360" y="4197096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Utile a tecnici, commerciali e assistenza — non solo all'ufficio tecnico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365760" y="4553712"/>
            <a:ext cx="8412480" cy="457200"/>
          </a:xfrm>
          <a:prstGeom prst="rect">
            <a:avLst/>
          </a:prstGeom>
          <a:solidFill>
            <a:srgbClr val="F7F7F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502920" y="4553712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corso di sviluppo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2606040" y="4553712"/>
            <a:ext cx="6035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modello base è operativo — la fase di rifinitura è in corso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Innovazione: Motore di Ricerca Documentazione Tecnica</dc:title>
  <dc:subject>PptxGenJS Presentation</dc:subject>
  <dc:creator>PptxGenJS</dc:creator>
  <cp:lastModifiedBy>PptxGenJS</cp:lastModifiedBy>
  <cp:revision>1</cp:revision>
  <dcterms:created xsi:type="dcterms:W3CDTF">2026-05-24T06:47:52Z</dcterms:created>
  <dcterms:modified xsi:type="dcterms:W3CDTF">2026-05-24T06:47:52Z</dcterms:modified>
</cp:coreProperties>
</file>